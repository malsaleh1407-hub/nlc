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15568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LIGHTING CO.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360152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4285E">
              <a:alpha val="4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360152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·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246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CURRENT DIVISION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buildings,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operational.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640080" y="5074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control, building management, central battery and emergency monitoring — engineered, integrated, and supported from Dammam.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6126480"/>
            <a:ext cx="10881360" cy="0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62636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40080" y="6428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nlc.com.sa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377440" y="62636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2377440" y="6428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info@nlc.com.sa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0" y="62636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572000" y="6428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 · Dammam, KSA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177272" y="6263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" b="1" spc="8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10177272" y="6766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COMPANY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702552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NLC · NATIONAL LIGHTING COMPANY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0881360" cy="0"/>
          </a:xfrm>
          <a:prstGeom prst="line">
            <a:avLst/>
          </a:prstGeom>
          <a:noFill/>
          <a:ln w="6350">
            <a:solidFill>
              <a:srgbClr val="E2E1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6400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Saudi-built. Schneider-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approved. Always-on.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Lighting Company has manufactured LED luminaires and assembled Schneider Electric authorized power panels in Dammam since 1993. Three pillars deliver to every project: Lighting Solutions, Power &amp; Control Systems, and Low Current Systems — engineered as a single integrated stack.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937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54864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03120" y="4937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103120" y="54864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66160" y="4937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66160" y="54864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0" y="49377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029200" y="54864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" y="594360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12700">
            <a:solidFill>
              <a:srgbClr val="E2E1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943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Solutions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24328" y="594360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FFFFFF"/>
          </a:solidFill>
          <a:ln w="12700">
            <a:solidFill>
              <a:srgbClr val="E2E1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24328" y="5943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Control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08576" y="5943600"/>
            <a:ext cx="1874520" cy="411480"/>
          </a:xfrm>
          <a:prstGeom prst="roundRect">
            <a:avLst>
              <a:gd name="adj" fmla="val 48889"/>
            </a:avLst>
          </a:prstGeom>
          <a:solidFill>
            <a:srgbClr val="F6851F"/>
          </a:solidFill>
          <a:ln w="12700">
            <a:solidFill>
              <a:srgbClr val="F685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59436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Current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0" y="1188720"/>
            <a:ext cx="4572000" cy="5349240"/>
          </a:xfrm>
          <a:prstGeom prst="rect">
            <a:avLst/>
          </a:prstGeom>
          <a:solidFill>
            <a:srgbClr val="F6851F"/>
          </a:solidFill>
          <a:ln w="12700">
            <a:solidFill>
              <a:srgbClr val="F6851F"/>
            </a:solidFill>
            <a:prstDash val="solid"/>
          </a:ln>
        </p:spPr>
      </p:sp>
      <p:pic>
        <p:nvPicPr>
          <p:cNvPr id="23" name="Image 0" descr="/sessions/brave-optimistic-pasteur/mnt/Website/images/nlc-build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1005840"/>
            <a:ext cx="4572000" cy="534924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949440" y="5852160"/>
            <a:ext cx="2926080" cy="502920"/>
          </a:xfrm>
          <a:prstGeom prst="rect">
            <a:avLst/>
          </a:prstGeom>
          <a:solidFill>
            <a:srgbClr val="24285E"/>
          </a:solidFill>
          <a:ln w="12700">
            <a:solidFill>
              <a:srgbClr val="24285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0" y="5852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· DAMMAM 2ND INDUSTRIAL CITY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91672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4008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NLC · LOW CURRENT DIVISION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DIVISION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702552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PRODUCT LINES · 1 of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0881360" cy="0"/>
          </a:xfrm>
          <a:prstGeom prst="line">
            <a:avLst/>
          </a:prstGeom>
          <a:noFill/>
          <a:ln w="6350">
            <a:solidFill>
              <a:srgbClr val="E2E1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 building. </a:t>
            </a:r>
            <a:pPr indent="0" marL="0">
              <a:buNone/>
            </a:pPr>
            <a:r>
              <a:rPr lang="en-US" sz="2800" b="1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it intelligently.</a:t>
            </a:r>
            <a:endParaRPr lang="en-US" sz="2800" dirty="0"/>
          </a:p>
        </p:txBody>
      </p:sp>
      <p:pic>
        <p:nvPicPr>
          <p:cNvPr id="6" name="Image 0" descr="/sessions/brave-optimistic-pasteur/mnt/Website/images/solutions/bas-lighting-contro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37360"/>
            <a:ext cx="5349240" cy="171175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3449117"/>
            <a:ext cx="5349240" cy="54864"/>
          </a:xfrm>
          <a:prstGeom prst="rect">
            <a:avLst/>
          </a:prstGeom>
          <a:solidFill>
            <a:srgbClr val="F6851F"/>
          </a:solidFill>
          <a:ln w="12700">
            <a:solidFill>
              <a:srgbClr val="F6851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3503981"/>
            <a:ext cx="5349240" cy="2988259"/>
          </a:xfrm>
          <a:prstGeom prst="rect">
            <a:avLst/>
          </a:prstGeom>
          <a:solidFill>
            <a:srgbClr val="FFFFFF"/>
          </a:solidFill>
          <a:ln w="6350">
            <a:solidFill>
              <a:srgbClr val="E2E1E1"/>
            </a:solidFill>
            <a:prstDash val="solid"/>
          </a:ln>
          <a:effectLst>
            <a:outerShdw sx="100000" sy="100000" kx="0" ky="0" algn="bl" rotWithShape="0" blurRad="76200" dist="25400" dir="5400000">
              <a:srgbClr val="24285E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3732581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CONTROL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0" y="3961181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KNX · DALI · RGBW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14400" y="4509821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street and architectural lighting control with flexible integration for efficient energy management and smart-city applications.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5378501"/>
            <a:ext cx="4800600" cy="47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Multi-protocol bus support — KNX, DALI, DALI-2, DMX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programming, daylight harvesting, RGBW color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city SCADA / smart-city platforms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14400" y="5989320"/>
            <a:ext cx="4800600" cy="0"/>
          </a:xfrm>
          <a:prstGeom prst="line">
            <a:avLst/>
          </a:prstGeom>
          <a:noFill/>
          <a:ln w="6350">
            <a:solidFill>
              <a:srgbClr val="E2E1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610819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· CITY ROADS · FAÇADES · CAMPUSES</a:t>
            </a:r>
            <a:endParaRPr lang="en-US" sz="850" dirty="0"/>
          </a:p>
        </p:txBody>
      </p:sp>
      <p:pic>
        <p:nvPicPr>
          <p:cNvPr id="15" name="Image 1" descr="/sessions/brave-optimistic-pasteur/mnt/Website/images/solutions/bas-bm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37960" y="1737360"/>
            <a:ext cx="5349240" cy="1711757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537960" y="3449117"/>
            <a:ext cx="5349240" cy="54864"/>
          </a:xfrm>
          <a:prstGeom prst="rect">
            <a:avLst/>
          </a:prstGeom>
          <a:solidFill>
            <a:srgbClr val="F6851F"/>
          </a:solidFill>
          <a:ln w="12700">
            <a:solidFill>
              <a:srgbClr val="F6851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37960" y="3503981"/>
            <a:ext cx="5349240" cy="2988259"/>
          </a:xfrm>
          <a:prstGeom prst="rect">
            <a:avLst/>
          </a:prstGeom>
          <a:solidFill>
            <a:srgbClr val="FFFFFF"/>
          </a:solidFill>
          <a:ln w="6350">
            <a:solidFill>
              <a:srgbClr val="E2E1E1"/>
            </a:solidFill>
            <a:prstDash val="solid"/>
          </a:ln>
          <a:effectLst>
            <a:outerShdw sx="100000" sy="100000" kx="0" ky="0" algn="bl" rotWithShape="0" blurRad="76200" dist="25400" dir="5400000">
              <a:srgbClr val="24285E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812280" y="3732581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MANAGEMENT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812280" y="3961181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— Centralized control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812280" y="4509821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monitoring and control for HVAC, VRV, VAV, pumps and fans — enhancing comfort, efficiency, and operational reliability.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812280" y="5378501"/>
            <a:ext cx="4800600" cy="47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BACnet, Modbus, M-Bus across HVAC and plant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VRV/VAV, AHU, FCU, chillers, pumps, fans, gensets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dashboards, trend logging, fault alarms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812280" y="5989320"/>
            <a:ext cx="4800600" cy="0"/>
          </a:xfrm>
          <a:prstGeom prst="line">
            <a:avLst/>
          </a:prstGeom>
          <a:noFill/>
          <a:ln w="6350">
            <a:solidFill>
              <a:srgbClr val="E2E1E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12280" y="610819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· OFFICE · HEALTHCARE · INDUSTRIAL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11091672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4008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NLC · LOW CURRENT DIVISION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DIVISION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702552" y="4114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PRODUCT LINES · 2 of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0881360" cy="0"/>
          </a:xfrm>
          <a:prstGeom prst="line">
            <a:avLst/>
          </a:prstGeom>
          <a:noFill/>
          <a:ln w="6350">
            <a:solidFill>
              <a:srgbClr val="E2E1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power on. </a:t>
            </a:r>
            <a:pPr indent="0" marL="0">
              <a:buNone/>
            </a:pPr>
            <a:r>
              <a:rPr lang="en-US" sz="2800" b="1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people safe.</a:t>
            </a:r>
            <a:endParaRPr lang="en-US" sz="2800" dirty="0"/>
          </a:p>
        </p:txBody>
      </p:sp>
      <p:pic>
        <p:nvPicPr>
          <p:cNvPr id="6" name="Image 0" descr="/sessions/brave-optimistic-pasteur/mnt/Website/images/solutions/cbs-dca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37360"/>
            <a:ext cx="5349240" cy="171175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3449117"/>
            <a:ext cx="5349240" cy="54864"/>
          </a:xfrm>
          <a:prstGeom prst="rect">
            <a:avLst/>
          </a:prstGeom>
          <a:solidFill>
            <a:srgbClr val="F6851F"/>
          </a:solidFill>
          <a:ln w="12700">
            <a:solidFill>
              <a:srgbClr val="F6851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3503981"/>
            <a:ext cx="5349240" cy="2988259"/>
          </a:xfrm>
          <a:prstGeom prst="rect">
            <a:avLst/>
          </a:prstGeom>
          <a:solidFill>
            <a:srgbClr val="FFFFFF"/>
          </a:solidFill>
          <a:ln w="6350">
            <a:solidFill>
              <a:srgbClr val="E2E1E1"/>
            </a:solidFill>
            <a:prstDash val="solid"/>
          </a:ln>
          <a:effectLst>
            <a:outerShdw sx="100000" sy="100000" kx="0" ky="0" algn="bl" rotWithShape="0" blurRad="76200" dist="25400" dir="5400000">
              <a:srgbClr val="24285E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3732581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BATTERY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0" y="3961181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 — Continuous backup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14400" y="4509821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power backup for emergency and life-safety systems. Ensures continuous operation during outages with full monitoring of every fixture.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5378501"/>
            <a:ext cx="4800600" cy="47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DC and DC/AC inverter systems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transfer with sub-cycle response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Per-fixture status, fault, and battery health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14400" y="5989320"/>
            <a:ext cx="4800600" cy="0"/>
          </a:xfrm>
          <a:prstGeom prst="line">
            <a:avLst/>
          </a:prstGeom>
          <a:noFill/>
          <a:ln w="6350">
            <a:solidFill>
              <a:srgbClr val="E2E1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610819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· HOSPITALS · HOTELS · MALLS</a:t>
            </a:r>
            <a:endParaRPr lang="en-US" sz="850" dirty="0"/>
          </a:p>
        </p:txBody>
      </p:sp>
      <p:pic>
        <p:nvPicPr>
          <p:cNvPr id="15" name="Image 1" descr="/sessions/brave-optimistic-pasteur/mnt/Website/images/solutions/cbs-em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37960" y="1737360"/>
            <a:ext cx="5349240" cy="1711757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537960" y="3449117"/>
            <a:ext cx="5349240" cy="54864"/>
          </a:xfrm>
          <a:prstGeom prst="rect">
            <a:avLst/>
          </a:prstGeom>
          <a:solidFill>
            <a:srgbClr val="F6851F"/>
          </a:solidFill>
          <a:ln w="12700">
            <a:solidFill>
              <a:srgbClr val="F6851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37960" y="3503981"/>
            <a:ext cx="5349240" cy="2988259"/>
          </a:xfrm>
          <a:prstGeom prst="rect">
            <a:avLst/>
          </a:prstGeom>
          <a:solidFill>
            <a:srgbClr val="FFFFFF"/>
          </a:solidFill>
          <a:ln w="6350">
            <a:solidFill>
              <a:srgbClr val="E2E1E1"/>
            </a:solidFill>
            <a:prstDash val="solid"/>
          </a:ln>
          <a:effectLst>
            <a:outerShdw sx="100000" sy="100000" kx="0" ky="0" algn="bl" rotWithShape="0" blurRad="76200" dist="25400" dir="5400000">
              <a:srgbClr val="24285E">
                <a:alpha val="1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812280" y="3732581"/>
            <a:ext cx="4800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LIGHTING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812280" y="3961181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— Smart monitoring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812280" y="4509821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emergency-light monitoring and control. Supports safety compliance and rapid fault detection across thousands of fixtures.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812280" y="5378501"/>
            <a:ext cx="4800600" cy="47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Self-test luminaires (DALI-2 Type 202)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function and duration tests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00" dirty="0">
                <a:solidFill>
                  <a:srgbClr val="1A1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NFPA 101 / SBC compliance reporting &amp; audit logs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812280" y="5989320"/>
            <a:ext cx="4800600" cy="0"/>
          </a:xfrm>
          <a:prstGeom prst="line">
            <a:avLst/>
          </a:prstGeom>
          <a:noFill/>
          <a:ln w="6350">
            <a:solidFill>
              <a:srgbClr val="E2E1E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12280" y="610819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· CIVIL DEFENSE COMPLIANCE · DCD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11091672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4008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NLC · LOW CURRENT DIVISION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15568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LIGHTING CO.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360152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· v1.0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8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SPECIFY TOGETHER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251460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isn't decoration.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infrastructure.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40080" y="45262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NLC's Low Current team in early — at design, at tender, or at handover. We work alongside your MEP consultant to deliver a single, integrated stack.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5623560"/>
            <a:ext cx="1088136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760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40080" y="6007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nlc.com.sa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83280" y="5760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383280" y="6007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info@nlc.com.sa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5760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126480" y="6007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+966 920 016 374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869680" y="5760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6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869680" y="6007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Industrial City, Dammam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NLC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 Current Division — Capabilities</dc:title>
  <dc:subject>PptxGenJS Presentation</dc:subject>
  <dc:creator>National Lighting Company</dc:creator>
  <cp:lastModifiedBy>National Lighting Company</cp:lastModifiedBy>
  <cp:revision>1</cp:revision>
  <dcterms:created xsi:type="dcterms:W3CDTF">2026-05-10T21:08:31Z</dcterms:created>
  <dcterms:modified xsi:type="dcterms:W3CDTF">2026-05-10T21:08:31Z</dcterms:modified>
</cp:coreProperties>
</file>